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9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mbria"/>
              </a:rPr>
              <a:t>Nodes Explored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Nodes Explored</c:v>
                </c:pt>
              </c:strCache>
            </c:strRef>
          </c:tx>
          <c:spPr>
            <a:solidFill>
              <a:srgbClr val="5B7C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BFS</c:v>
                  </c:pt>
                  <c:pt idx="1">
                    <c:v>DFS</c:v>
                  </c:pt>
                  <c:pt idx="2">
                    <c:v>A*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35</c:v>
                </c:pt>
                <c:pt idx="2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0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mbria"/>
              </a:rPr>
              <a:t>Path Length Found (steps)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Path Length</c:v>
                </c:pt>
              </c:strCache>
            </c:strRef>
          </c:tx>
          <c:spPr>
            <a:solidFill>
              <a:srgbClr val="00E6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BFS</c:v>
                  </c:pt>
                  <c:pt idx="1">
                    <c:v>DFS</c:v>
                  </c:pt>
                  <c:pt idx="2">
                    <c:v>A*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19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0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2A3050"/>
          </a:solidFill>
          <a:ln/>
        </p:spPr>
      </p:sp>
      <p:sp>
        <p:nvSpPr>
          <p:cNvPr id="3" name="Shape 1"/>
          <p:cNvSpPr/>
          <p:nvPr/>
        </p:nvSpPr>
        <p:spPr>
          <a:xfrm>
            <a:off x="10014509" y="640080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00E6A8"/>
          </a:solidFill>
          <a:ln/>
        </p:spPr>
      </p:sp>
      <p:sp>
        <p:nvSpPr>
          <p:cNvPr id="4" name="Shape 2"/>
          <p:cNvSpPr/>
          <p:nvPr/>
        </p:nvSpPr>
        <p:spPr>
          <a:xfrm>
            <a:off x="10336378" y="640080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2A3050"/>
          </a:solidFill>
          <a:ln/>
        </p:spPr>
      </p:sp>
      <p:sp>
        <p:nvSpPr>
          <p:cNvPr id="5" name="Shape 3"/>
          <p:cNvSpPr/>
          <p:nvPr/>
        </p:nvSpPr>
        <p:spPr>
          <a:xfrm>
            <a:off x="10658246" y="640080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2A3050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961949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00E6A8"/>
          </a:solidFill>
          <a:ln/>
        </p:spPr>
      </p:sp>
      <p:sp>
        <p:nvSpPr>
          <p:cNvPr id="7" name="Shape 5"/>
          <p:cNvSpPr/>
          <p:nvPr/>
        </p:nvSpPr>
        <p:spPr>
          <a:xfrm>
            <a:off x="10014509" y="961949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00E6A8"/>
          </a:solidFill>
          <a:ln/>
        </p:spPr>
      </p:sp>
      <p:sp>
        <p:nvSpPr>
          <p:cNvPr id="8" name="Shape 6"/>
          <p:cNvSpPr/>
          <p:nvPr/>
        </p:nvSpPr>
        <p:spPr>
          <a:xfrm>
            <a:off x="10336378" y="961949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00E6A8"/>
          </a:solidFill>
          <a:ln/>
        </p:spPr>
      </p:sp>
      <p:sp>
        <p:nvSpPr>
          <p:cNvPr id="9" name="Shape 7"/>
          <p:cNvSpPr/>
          <p:nvPr/>
        </p:nvSpPr>
        <p:spPr>
          <a:xfrm>
            <a:off x="10658246" y="961949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2A3050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0" y="1283818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2A30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014509" y="1283818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2A305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36378" y="1283818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00E6A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58246" y="1283818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00E6A8"/>
          </a:solidFill>
          <a:ln/>
        </p:spPr>
      </p:sp>
      <p:sp>
        <p:nvSpPr>
          <p:cNvPr id="14" name="Shape 12"/>
          <p:cNvSpPr/>
          <p:nvPr/>
        </p:nvSpPr>
        <p:spPr>
          <a:xfrm>
            <a:off x="9692640" y="1605686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2A305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14509" y="1605686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2A305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36378" y="1605686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2A305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58246" y="1605686"/>
            <a:ext cx="234086" cy="234086"/>
          </a:xfrm>
          <a:prstGeom prst="roundRect">
            <a:avLst>
              <a:gd name="adj" fmla="val 11719"/>
            </a:avLst>
          </a:prstGeom>
          <a:solidFill>
            <a:srgbClr val="00E6A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 •  FOI ASSIGNMENT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18745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Maze Solver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22960" y="2697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FE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AI Search Algorithms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22960" y="3520440"/>
            <a:ext cx="2926080" cy="0"/>
          </a:xfrm>
          <a:prstGeom prst="line">
            <a:avLst/>
          </a:prstGeom>
          <a:noFill/>
          <a:ln w="25400">
            <a:solidFill>
              <a:srgbClr val="5B7C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703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of how autonomous agents navigate unknown environments using BFS, DFS, and A* search.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4526280"/>
            <a:ext cx="6949440" cy="1417320"/>
          </a:xfrm>
          <a:prstGeom prst="roundRect">
            <a:avLst>
              <a:gd name="adj" fmla="val 5161"/>
            </a:avLst>
          </a:prstGeom>
          <a:solidFill>
            <a:srgbClr val="1B2036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Sindhu T.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53766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25WU0102316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4612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Reddy Keerthana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46120" y="53766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25WU0101107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53766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25WU0101148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Maze Solving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0E6A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maze is a classic abstraction for navigation problems: a space with walls, a start point, and a goal, where a path must be found through open cells.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0E6A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146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solving large or complex mazes is slow and error-prone — an intelligent agent should search the space systematically instead of guessing.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0E6A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6616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 agent that models the maze as a search problem and applies AI search algorithms to find a path automatically.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86600" y="1325880"/>
            <a:ext cx="2761488" cy="3145536"/>
          </a:xfrm>
          <a:prstGeom prst="roundRect">
            <a:avLst>
              <a:gd name="adj" fmla="val 3311"/>
            </a:avLst>
          </a:prstGeom>
          <a:solidFill>
            <a:srgbClr val="F4F5F9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1554480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12" name="Shape 10"/>
          <p:cNvSpPr/>
          <p:nvPr/>
        </p:nvSpPr>
        <p:spPr>
          <a:xfrm>
            <a:off x="7699248" y="1554480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13" name="Shape 11"/>
          <p:cNvSpPr/>
          <p:nvPr/>
        </p:nvSpPr>
        <p:spPr>
          <a:xfrm>
            <a:off x="8083296" y="1554480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14" name="Shape 12"/>
          <p:cNvSpPr/>
          <p:nvPr/>
        </p:nvSpPr>
        <p:spPr>
          <a:xfrm>
            <a:off x="8467344" y="1554480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15" name="Shape 13"/>
          <p:cNvSpPr/>
          <p:nvPr/>
        </p:nvSpPr>
        <p:spPr>
          <a:xfrm>
            <a:off x="8851392" y="1554480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16" name="Shape 14"/>
          <p:cNvSpPr/>
          <p:nvPr/>
        </p:nvSpPr>
        <p:spPr>
          <a:xfrm>
            <a:off x="9235440" y="1554480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1938528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18" name="Shape 16"/>
          <p:cNvSpPr/>
          <p:nvPr/>
        </p:nvSpPr>
        <p:spPr>
          <a:xfrm>
            <a:off x="7699248" y="1938528"/>
            <a:ext cx="356616" cy="356616"/>
          </a:xfrm>
          <a:prstGeom prst="rect">
            <a:avLst/>
          </a:prstGeom>
          <a:solidFill>
            <a:srgbClr val="00E6A8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3296" y="1938528"/>
            <a:ext cx="356616" cy="356616"/>
          </a:xfrm>
          <a:prstGeom prst="rect">
            <a:avLst/>
          </a:prstGeom>
          <a:solidFill>
            <a:srgbClr val="00E6A8"/>
          </a:solidFill>
          <a:ln/>
        </p:spPr>
      </p:sp>
      <p:sp>
        <p:nvSpPr>
          <p:cNvPr id="20" name="Shape 18"/>
          <p:cNvSpPr/>
          <p:nvPr/>
        </p:nvSpPr>
        <p:spPr>
          <a:xfrm>
            <a:off x="8467344" y="1938528"/>
            <a:ext cx="356616" cy="356616"/>
          </a:xfrm>
          <a:prstGeom prst="rect">
            <a:avLst/>
          </a:prstGeom>
          <a:solidFill>
            <a:srgbClr val="00E6A8"/>
          </a:solidFill>
          <a:ln/>
        </p:spPr>
      </p:sp>
      <p:sp>
        <p:nvSpPr>
          <p:cNvPr id="21" name="Shape 19"/>
          <p:cNvSpPr/>
          <p:nvPr/>
        </p:nvSpPr>
        <p:spPr>
          <a:xfrm>
            <a:off x="8851392" y="1938528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22" name="Shape 20"/>
          <p:cNvSpPr/>
          <p:nvPr/>
        </p:nvSpPr>
        <p:spPr>
          <a:xfrm>
            <a:off x="9235440" y="1938528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0" y="2322576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24" name="Shape 22"/>
          <p:cNvSpPr/>
          <p:nvPr/>
        </p:nvSpPr>
        <p:spPr>
          <a:xfrm>
            <a:off x="7699248" y="2322576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25" name="Shape 23"/>
          <p:cNvSpPr/>
          <p:nvPr/>
        </p:nvSpPr>
        <p:spPr>
          <a:xfrm>
            <a:off x="8083296" y="2322576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26" name="Shape 24"/>
          <p:cNvSpPr/>
          <p:nvPr/>
        </p:nvSpPr>
        <p:spPr>
          <a:xfrm>
            <a:off x="8467344" y="2322576"/>
            <a:ext cx="356616" cy="356616"/>
          </a:xfrm>
          <a:prstGeom prst="rect">
            <a:avLst/>
          </a:prstGeom>
          <a:solidFill>
            <a:srgbClr val="00E6A8"/>
          </a:solidFill>
          <a:ln/>
        </p:spPr>
      </p:sp>
      <p:sp>
        <p:nvSpPr>
          <p:cNvPr id="27" name="Shape 25"/>
          <p:cNvSpPr/>
          <p:nvPr/>
        </p:nvSpPr>
        <p:spPr>
          <a:xfrm>
            <a:off x="8851392" y="2322576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28" name="Shape 26"/>
          <p:cNvSpPr/>
          <p:nvPr/>
        </p:nvSpPr>
        <p:spPr>
          <a:xfrm>
            <a:off x="9235440" y="2322576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0" y="2706624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30" name="Shape 28"/>
          <p:cNvSpPr/>
          <p:nvPr/>
        </p:nvSpPr>
        <p:spPr>
          <a:xfrm>
            <a:off x="7699248" y="2706624"/>
            <a:ext cx="356616" cy="356616"/>
          </a:xfrm>
          <a:prstGeom prst="rect">
            <a:avLst/>
          </a:prstGeom>
          <a:solidFill>
            <a:srgbClr val="00E6A8"/>
          </a:solidFill>
          <a:ln/>
        </p:spPr>
      </p:sp>
      <p:sp>
        <p:nvSpPr>
          <p:cNvPr id="31" name="Shape 29"/>
          <p:cNvSpPr/>
          <p:nvPr/>
        </p:nvSpPr>
        <p:spPr>
          <a:xfrm>
            <a:off x="8083296" y="2706624"/>
            <a:ext cx="356616" cy="356616"/>
          </a:xfrm>
          <a:prstGeom prst="rect">
            <a:avLst/>
          </a:prstGeom>
          <a:solidFill>
            <a:srgbClr val="00E6A8"/>
          </a:solidFill>
          <a:ln/>
        </p:spPr>
      </p:sp>
      <p:sp>
        <p:nvSpPr>
          <p:cNvPr id="32" name="Shape 30"/>
          <p:cNvSpPr/>
          <p:nvPr/>
        </p:nvSpPr>
        <p:spPr>
          <a:xfrm>
            <a:off x="8467344" y="2706624"/>
            <a:ext cx="356616" cy="356616"/>
          </a:xfrm>
          <a:prstGeom prst="rect">
            <a:avLst/>
          </a:prstGeom>
          <a:solidFill>
            <a:srgbClr val="00E6A8"/>
          </a:solidFill>
          <a:ln/>
        </p:spPr>
      </p:sp>
      <p:sp>
        <p:nvSpPr>
          <p:cNvPr id="33" name="Shape 31"/>
          <p:cNvSpPr/>
          <p:nvPr/>
        </p:nvSpPr>
        <p:spPr>
          <a:xfrm>
            <a:off x="8851392" y="2706624"/>
            <a:ext cx="356616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9235440" y="2706624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0" y="3090672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36" name="Shape 34"/>
          <p:cNvSpPr/>
          <p:nvPr/>
        </p:nvSpPr>
        <p:spPr>
          <a:xfrm>
            <a:off x="7699248" y="3090672"/>
            <a:ext cx="356616" cy="356616"/>
          </a:xfrm>
          <a:prstGeom prst="rect">
            <a:avLst/>
          </a:prstGeom>
          <a:solidFill>
            <a:srgbClr val="00E6A8"/>
          </a:solidFill>
          <a:ln/>
        </p:spPr>
      </p:sp>
      <p:sp>
        <p:nvSpPr>
          <p:cNvPr id="37" name="Shape 35"/>
          <p:cNvSpPr/>
          <p:nvPr/>
        </p:nvSpPr>
        <p:spPr>
          <a:xfrm>
            <a:off x="8083296" y="3090672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38" name="Shape 36"/>
          <p:cNvSpPr/>
          <p:nvPr/>
        </p:nvSpPr>
        <p:spPr>
          <a:xfrm>
            <a:off x="8467344" y="3090672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39" name="Shape 37"/>
          <p:cNvSpPr/>
          <p:nvPr/>
        </p:nvSpPr>
        <p:spPr>
          <a:xfrm>
            <a:off x="8851392" y="3090672"/>
            <a:ext cx="356616" cy="356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9235440" y="3090672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41" name="Shape 39"/>
          <p:cNvSpPr/>
          <p:nvPr/>
        </p:nvSpPr>
        <p:spPr>
          <a:xfrm>
            <a:off x="7315200" y="3474720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42" name="Shape 40"/>
          <p:cNvSpPr/>
          <p:nvPr/>
        </p:nvSpPr>
        <p:spPr>
          <a:xfrm>
            <a:off x="7699248" y="3474720"/>
            <a:ext cx="356616" cy="356616"/>
          </a:xfrm>
          <a:prstGeom prst="rect">
            <a:avLst/>
          </a:prstGeom>
          <a:solidFill>
            <a:srgbClr val="00E6A8"/>
          </a:solidFill>
          <a:ln/>
        </p:spPr>
      </p:sp>
      <p:sp>
        <p:nvSpPr>
          <p:cNvPr id="43" name="Shape 41"/>
          <p:cNvSpPr/>
          <p:nvPr/>
        </p:nvSpPr>
        <p:spPr>
          <a:xfrm>
            <a:off x="8083296" y="3474720"/>
            <a:ext cx="356616" cy="356616"/>
          </a:xfrm>
          <a:prstGeom prst="rect">
            <a:avLst/>
          </a:prstGeom>
          <a:solidFill>
            <a:srgbClr val="00E6A8"/>
          </a:solidFill>
          <a:ln/>
        </p:spPr>
      </p:sp>
      <p:sp>
        <p:nvSpPr>
          <p:cNvPr id="44" name="Shape 42"/>
          <p:cNvSpPr/>
          <p:nvPr/>
        </p:nvSpPr>
        <p:spPr>
          <a:xfrm>
            <a:off x="8467344" y="3474720"/>
            <a:ext cx="356616" cy="356616"/>
          </a:xfrm>
          <a:prstGeom prst="rect">
            <a:avLst/>
          </a:prstGeom>
          <a:solidFill>
            <a:srgbClr val="00E6A8"/>
          </a:solidFill>
          <a:ln/>
        </p:spPr>
      </p:sp>
      <p:sp>
        <p:nvSpPr>
          <p:cNvPr id="45" name="Shape 43"/>
          <p:cNvSpPr/>
          <p:nvPr/>
        </p:nvSpPr>
        <p:spPr>
          <a:xfrm>
            <a:off x="8851392" y="3474720"/>
            <a:ext cx="356616" cy="356616"/>
          </a:xfrm>
          <a:prstGeom prst="rect">
            <a:avLst/>
          </a:prstGeom>
          <a:solidFill>
            <a:srgbClr val="00E6A8"/>
          </a:solidFill>
          <a:ln/>
        </p:spPr>
      </p:sp>
      <p:sp>
        <p:nvSpPr>
          <p:cNvPr id="46" name="Shape 44"/>
          <p:cNvSpPr/>
          <p:nvPr/>
        </p:nvSpPr>
        <p:spPr>
          <a:xfrm>
            <a:off x="9235440" y="3474720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47" name="Shape 45"/>
          <p:cNvSpPr/>
          <p:nvPr/>
        </p:nvSpPr>
        <p:spPr>
          <a:xfrm>
            <a:off x="7315200" y="3858768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48" name="Shape 46"/>
          <p:cNvSpPr/>
          <p:nvPr/>
        </p:nvSpPr>
        <p:spPr>
          <a:xfrm>
            <a:off x="7699248" y="3858768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49" name="Shape 47"/>
          <p:cNvSpPr/>
          <p:nvPr/>
        </p:nvSpPr>
        <p:spPr>
          <a:xfrm>
            <a:off x="8083296" y="3858768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50" name="Shape 48"/>
          <p:cNvSpPr/>
          <p:nvPr/>
        </p:nvSpPr>
        <p:spPr>
          <a:xfrm>
            <a:off x="8467344" y="3858768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51" name="Shape 49"/>
          <p:cNvSpPr/>
          <p:nvPr/>
        </p:nvSpPr>
        <p:spPr>
          <a:xfrm>
            <a:off x="8851392" y="3858768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52" name="Shape 50"/>
          <p:cNvSpPr/>
          <p:nvPr/>
        </p:nvSpPr>
        <p:spPr>
          <a:xfrm>
            <a:off x="9235440" y="3858768"/>
            <a:ext cx="356616" cy="356616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53" name="Shape 51"/>
          <p:cNvSpPr/>
          <p:nvPr/>
        </p:nvSpPr>
        <p:spPr>
          <a:xfrm>
            <a:off x="7315200" y="4572000"/>
            <a:ext cx="146304" cy="146304"/>
          </a:xfrm>
          <a:prstGeom prst="rect">
            <a:avLst/>
          </a:prstGeom>
          <a:solidFill>
            <a:srgbClr val="1B2036"/>
          </a:solidFill>
          <a:ln/>
        </p:spPr>
      </p:sp>
      <p:sp>
        <p:nvSpPr>
          <p:cNvPr id="54" name="Text 52"/>
          <p:cNvSpPr/>
          <p:nvPr/>
        </p:nvSpPr>
        <p:spPr>
          <a:xfrm>
            <a:off x="7516368" y="453542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732520" y="4572000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E4E6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33688" y="453542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cell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0149840" y="4572000"/>
            <a:ext cx="146304" cy="146304"/>
          </a:xfrm>
          <a:prstGeom prst="rect">
            <a:avLst/>
          </a:prstGeom>
          <a:solidFill>
            <a:srgbClr val="00E6A8"/>
          </a:solidFill>
          <a:ln/>
        </p:spPr>
      </p:sp>
      <p:sp>
        <p:nvSpPr>
          <p:cNvPr id="58" name="Text 56"/>
          <p:cNvSpPr/>
          <p:nvPr/>
        </p:nvSpPr>
        <p:spPr>
          <a:xfrm>
            <a:off x="10351008" y="453542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path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Maze Solver Using AI Search Algorithms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Sets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00E6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the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any maze as a formal search problem: states, actions, transitions, and a goal test.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6916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3639312" y="1965960"/>
            <a:ext cx="502920" cy="502920"/>
          </a:xfrm>
          <a:prstGeom prst="ellipse">
            <a:avLst/>
          </a:prstGeom>
          <a:solidFill>
            <a:srgbClr val="5B7CFA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39312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Algorithms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9312" y="31546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 uninformed (BFS, DFS) and informed (A*) search over the maze.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6916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501384" y="1965960"/>
            <a:ext cx="502920" cy="502920"/>
          </a:xfrm>
          <a:prstGeom prst="ellipse">
            <a:avLst/>
          </a:prstGeom>
          <a:solidFill>
            <a:srgbClr val="00E6A8"/>
          </a:solidFill>
          <a:ln/>
        </p:spPr>
      </p:sp>
      <p:sp>
        <p:nvSpPr>
          <p:cNvPr id="16" name="Text 14"/>
          <p:cNvSpPr/>
          <p:nvPr/>
        </p:nvSpPr>
        <p:spPr>
          <a:xfrm>
            <a:off x="6501384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01384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Performance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01384" y="31546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path length, nodes explored, and time taken across algorithms.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34856" y="169164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363456" y="1965960"/>
            <a:ext cx="502920" cy="502920"/>
          </a:xfrm>
          <a:prstGeom prst="ellipse">
            <a:avLst/>
          </a:prstGeom>
          <a:solidFill>
            <a:srgbClr val="5B7CFA"/>
          </a:solidFill>
          <a:ln/>
        </p:spPr>
      </p:sp>
      <p:sp>
        <p:nvSpPr>
          <p:cNvPr id="21" name="Text 19"/>
          <p:cNvSpPr/>
          <p:nvPr/>
        </p:nvSpPr>
        <p:spPr>
          <a:xfrm>
            <a:off x="9363456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5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63456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 the Solution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63456" y="31546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maze, the explored region, and the final shortest path clearly.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Maze Solver Using AI Search Algorithms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the Maze as a Search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58368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64592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cell/position of the agent within the maze grid.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State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230428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starting cell.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11064240" cy="658368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6265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962656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Up, Down, Left, or Right — to an adjacent open cell.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 Model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3621024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an action: the agent's new cell, if not blocked by a wall.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279392"/>
            <a:ext cx="11064240" cy="658368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793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Test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427939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when the agent's current cell equals the goal cell.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493776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C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Cost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93776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steps taken (each move costs 1).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Maze Solver Using AI Search Algorithms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Uninformed Search: BFS &amp; DFS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84248"/>
            <a:ext cx="457200" cy="457200"/>
          </a:xfrm>
          <a:prstGeom prst="ellipse">
            <a:avLst/>
          </a:prstGeom>
          <a:solidFill>
            <a:srgbClr val="5B7CFA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9659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Breadth-First Search (BFS)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267919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5B7CF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3288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the maze level by level using a FIFO queue.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354787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5B7CF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0156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shortest path in an unweighted maze.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" y="441655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5B7CFA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2702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many cells — higher memory use.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F4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198424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9659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Depth-First Search (DFS)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10528" y="267919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53288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as deep as possible along one branch using a stack (recursion).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10528" y="354787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40156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less memory than BFS.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10528" y="441655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2702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found is not guaranteed to be the shortest.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Maze Solver Using AI Search Algorithms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Informed Search: The A* Algorithm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combines the actual cost so far with an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to the goal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heuristic), so it explores far fewer cells than BFS while still finding the shortest path.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4206240" cy="1371600"/>
          </a:xfrm>
          <a:prstGeom prst="roundRect">
            <a:avLst>
              <a:gd name="adj" fmla="val 6667"/>
            </a:avLst>
          </a:prstGeom>
          <a:solidFill>
            <a:srgbClr val="12151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97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= g(n) + h(n)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g(n): cost from start to node n     h(n): estimated cost from n to goal (e.g. Manhattan distance)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74920" y="2514600"/>
            <a:ext cx="365760" cy="365760"/>
          </a:xfrm>
          <a:prstGeom prst="ellipse">
            <a:avLst/>
          </a:prstGeom>
          <a:solidFill>
            <a:srgbClr val="5B7CFA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77840" y="24688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 open list of frontier cells, ordered by f(n).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74920" y="3044952"/>
            <a:ext cx="365760" cy="365760"/>
          </a:xfrm>
          <a:prstGeom prst="ellipse">
            <a:avLst/>
          </a:prstGeom>
          <a:solidFill>
            <a:srgbClr val="5B7CFA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304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29992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expand the cell with the lowest f(n) first.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74920" y="3575304"/>
            <a:ext cx="365760" cy="365760"/>
          </a:xfrm>
          <a:prstGeom prst="ellipse">
            <a:avLst/>
          </a:prstGeom>
          <a:solidFill>
            <a:srgbClr val="5B7CFA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3575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352958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neighbor costs when a shorter path is found.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74920" y="4105656"/>
            <a:ext cx="365760" cy="365760"/>
          </a:xfrm>
          <a:prstGeom prst="ellipse">
            <a:avLst/>
          </a:prstGeom>
          <a:solidFill>
            <a:srgbClr val="5B7CFA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4105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77840" y="405993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the goal cell is expanded — reconstruct the path.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A* is the algorithm most real navigation systems (GPS, robotics, games) use for pathfinding.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Maze Solver Using AI Search Algorithms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Solver Works,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4F5F9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774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Maze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40280" y="2971800"/>
            <a:ext cx="137160" cy="182880"/>
          </a:xfrm>
          <a:prstGeom prst="rightArrow">
            <a:avLst/>
          </a:prstGeom>
          <a:solidFill>
            <a:srgbClr val="5B7CFA"/>
          </a:solidFill>
          <a:ln/>
        </p:spPr>
      </p:sp>
      <p:sp>
        <p:nvSpPr>
          <p:cNvPr id="7" name="Shape 5"/>
          <p:cNvSpPr/>
          <p:nvPr/>
        </p:nvSpPr>
        <p:spPr>
          <a:xfrm>
            <a:off x="2423160" y="23774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4F5F9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3774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Grid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2971800"/>
            <a:ext cx="137160" cy="182880"/>
          </a:xfrm>
          <a:prstGeom prst="rightArrow">
            <a:avLst/>
          </a:prstGeom>
          <a:solidFill>
            <a:srgbClr val="5B7CFA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23774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4F5F9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3774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Search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2971800"/>
            <a:ext cx="137160" cy="182880"/>
          </a:xfrm>
          <a:prstGeom prst="rightArrow">
            <a:avLst/>
          </a:prstGeom>
          <a:solidFill>
            <a:srgbClr val="5B7C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23774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4F5F9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3774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Explored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0" y="2971800"/>
            <a:ext cx="137160" cy="182880"/>
          </a:xfrm>
          <a:prstGeom prst="rightArrow">
            <a:avLst/>
          </a:prstGeom>
          <a:solidFill>
            <a:srgbClr val="5B7C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23774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F4F5F9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3774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38360" y="2971800"/>
            <a:ext cx="137160" cy="182880"/>
          </a:xfrm>
          <a:prstGeom prst="rightArrow">
            <a:avLst/>
          </a:prstGeom>
          <a:solidFill>
            <a:srgbClr val="5B7CFA"/>
          </a:solidFill>
          <a:ln/>
        </p:spPr>
      </p:sp>
      <p:sp>
        <p:nvSpPr>
          <p:cNvPr id="19" name="Shape 17"/>
          <p:cNvSpPr/>
          <p:nvPr/>
        </p:nvSpPr>
        <p:spPr>
          <a:xfrm>
            <a:off x="9921240" y="2377440"/>
            <a:ext cx="1691640" cy="1371600"/>
          </a:xfrm>
          <a:prstGeom prst="roundRect">
            <a:avLst>
              <a:gd name="adj" fmla="val 8000"/>
            </a:avLst>
          </a:prstGeom>
          <a:solidFill>
            <a:srgbClr val="00E6A8"/>
          </a:solidFill>
          <a:ln w="12700">
            <a:solidFill>
              <a:srgbClr val="E4E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12680" y="23774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21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Result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runs for BFS, DFS, and A* — only the search strategy in step 3 changes, which keeps the comparison fair.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Maze Solver Using AI Search Algorithms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Performance on a Test Maze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69164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test maze, A* reached the goal exploring under half the cells BFS visited — while still finding the shortest path.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Maze Solver Using AI Search Algorithms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MAZE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840480"/>
          </a:xfrm>
          <a:prstGeom prst="roundRect">
            <a:avLst>
              <a:gd name="adj" fmla="val 2381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5B7CF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377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and vehicle route navigation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08152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5B7CF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9443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and delivery robot path planning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64845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5B7CF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5112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Non-player character movement in games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21538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5B7CF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0782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packet routing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49240" cy="3840480"/>
          </a:xfrm>
          <a:prstGeom prst="roundRect">
            <a:avLst>
              <a:gd name="adj" fmla="val 2381"/>
            </a:avLst>
          </a:prstGeom>
          <a:solidFill>
            <a:srgbClr val="1B2036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251460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E6A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377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weighted terrain (some cells cost more to cross)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308152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E6A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29443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dynamic, moving obstacles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3648456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E6A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5112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additional heuristics for A*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421538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00E6A8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40782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3D maze environments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Maze Solver Using AI Search Algorithms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640080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2A3050"/>
          </a:solidFill>
          <a:ln/>
        </p:spPr>
      </p:sp>
      <p:sp>
        <p:nvSpPr>
          <p:cNvPr id="3" name="Shape 1"/>
          <p:cNvSpPr/>
          <p:nvPr/>
        </p:nvSpPr>
        <p:spPr>
          <a:xfrm>
            <a:off x="10340035" y="640080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00E6A8"/>
          </a:solidFill>
          <a:ln/>
        </p:spPr>
      </p:sp>
      <p:sp>
        <p:nvSpPr>
          <p:cNvPr id="4" name="Shape 2"/>
          <p:cNvSpPr/>
          <p:nvPr/>
        </p:nvSpPr>
        <p:spPr>
          <a:xfrm>
            <a:off x="10621670" y="640080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2A3050"/>
          </a:solidFill>
          <a:ln/>
        </p:spPr>
      </p:sp>
      <p:sp>
        <p:nvSpPr>
          <p:cNvPr id="5" name="Shape 3"/>
          <p:cNvSpPr/>
          <p:nvPr/>
        </p:nvSpPr>
        <p:spPr>
          <a:xfrm>
            <a:off x="10903306" y="640080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2A305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0" y="921715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00E6A8"/>
          </a:solidFill>
          <a:ln/>
        </p:spPr>
      </p:sp>
      <p:sp>
        <p:nvSpPr>
          <p:cNvPr id="7" name="Shape 5"/>
          <p:cNvSpPr/>
          <p:nvPr/>
        </p:nvSpPr>
        <p:spPr>
          <a:xfrm>
            <a:off x="10340035" y="921715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00E6A8"/>
          </a:solidFill>
          <a:ln/>
        </p:spPr>
      </p:sp>
      <p:sp>
        <p:nvSpPr>
          <p:cNvPr id="8" name="Shape 6"/>
          <p:cNvSpPr/>
          <p:nvPr/>
        </p:nvSpPr>
        <p:spPr>
          <a:xfrm>
            <a:off x="10621670" y="921715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00E6A8"/>
          </a:solidFill>
          <a:ln/>
        </p:spPr>
      </p:sp>
      <p:sp>
        <p:nvSpPr>
          <p:cNvPr id="9" name="Shape 7"/>
          <p:cNvSpPr/>
          <p:nvPr/>
        </p:nvSpPr>
        <p:spPr>
          <a:xfrm>
            <a:off x="10903306" y="921715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2A3050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0" y="1203350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2A30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340035" y="1203350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2A305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21670" y="1203350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00E6A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03306" y="1203350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00E6A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0" y="1484986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2A305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40035" y="1484986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2A305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21670" y="1484986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2A305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03306" y="1484986"/>
            <a:ext cx="204826" cy="204826"/>
          </a:xfrm>
          <a:prstGeom prst="roundRect">
            <a:avLst>
              <a:gd name="adj" fmla="val 13393"/>
            </a:avLst>
          </a:prstGeom>
          <a:solidFill>
            <a:srgbClr val="00E6A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15544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Turns a Maze Into a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Solvable Problem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2960" y="30175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and DFS show the trade-off between completeness and memory, while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demonstrates the power of heuristics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finding optimal paths efficiently. These same principles power navigation and robotics systems used every day.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4297680"/>
            <a:ext cx="2926080" cy="0"/>
          </a:xfrm>
          <a:prstGeom prst="line">
            <a:avLst/>
          </a:prstGeom>
          <a:noFill/>
          <a:ln w="25400">
            <a:solidFill>
              <a:srgbClr val="5B7C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394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Sindhu T.   •   Reddy Keerthana   •   Uday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2026-09-21T14:24:38Z</dcterms:created>
  <dcterms:modified xsi:type="dcterms:W3CDTF">2026-09-21T14:24:38Z</dcterms:modified>
</cp:coreProperties>
</file>